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iQOO HACKATHON 2026  |  GRAND FINALE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TrustLens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3317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investigation layer for digital trust decisions.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383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trust the name. Investigate the evidence.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114800"/>
            <a:ext cx="2194560" cy="256032"/>
          </a:xfrm>
          <a:prstGeom prst="roundRect">
            <a:avLst>
              <a:gd name="adj" fmla="val 28571"/>
            </a:avLst>
          </a:prstGeom>
          <a:solidFill>
            <a:srgbClr val="070B10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41148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→ FINALE BUILD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217920" y="411480"/>
            <a:ext cx="2286000" cy="4297680"/>
          </a:xfrm>
          <a:prstGeom prst="roundRect">
            <a:avLst>
              <a:gd name="adj" fmla="val 3200"/>
            </a:avLst>
          </a:prstGeom>
          <a:solidFill>
            <a:srgbClr val="000000"/>
          </a:solidFill>
          <a:ln w="25400">
            <a:solidFill>
              <a:srgbClr val="3A556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502920"/>
            <a:ext cx="2103120" cy="4114800"/>
          </a:xfrm>
          <a:prstGeom prst="roundRect">
            <a:avLst>
              <a:gd name="adj" fmla="val 3478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640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TrustLens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10972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070B10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0" y="109728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  Scan evidence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224028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070B10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2240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“Why is this suspicious?”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292608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2A1215"/>
          </a:solidFill>
          <a:ln w="9525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0" y="3063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3474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scenario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caution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friend paid ₹850 for an internship.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₹850</a:t>
            </a:r>
            <a:endParaRPr lang="en-US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6517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did the assigned work.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discovered it was a scam.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5661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looked legitimate. That is the problem.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54880" y="1371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720840" y="137160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20840" y="1371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2029968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20299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20840" y="2029968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20840" y="20299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688336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54880" y="268833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portals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20840" y="2688336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20840" y="268833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posters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346704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54880" y="334670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20840" y="3346704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20840" y="334670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4005072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54880" y="40050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requests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754880" y="4526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students meet opportunities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APPROACHES FALL SHORT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inspect one signal at a time.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554480" cy="1737360"/>
          </a:xfrm>
          <a:prstGeom prst="roundRect">
            <a:avLst>
              <a:gd name="adj" fmla="val 4706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checker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774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link safe?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39696" y="1554480"/>
            <a:ext cx="1554480" cy="1737360"/>
          </a:xfrm>
          <a:prstGeom prst="roundRect">
            <a:avLst>
              <a:gd name="adj" fmla="val 4706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31136" y="1691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detector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231136" y="23774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message spam?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22192" y="1554480"/>
            <a:ext cx="1554480" cy="1737360"/>
          </a:xfrm>
          <a:prstGeom prst="roundRect">
            <a:avLst>
              <a:gd name="adj" fmla="val 4706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13632" y="1691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lookup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913632" y="23774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exist?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04688" y="1554480"/>
            <a:ext cx="1554480" cy="1737360"/>
          </a:xfrm>
          <a:prstGeom prst="roundRect">
            <a:avLst>
              <a:gd name="adj" fmla="val 4706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96128" y="1691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scanner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596128" y="23774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decode?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87184" y="1554480"/>
            <a:ext cx="1554480" cy="1737360"/>
          </a:xfrm>
          <a:prstGeom prst="roundRect">
            <a:avLst>
              <a:gd name="adj" fmla="val 4706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78624" y="1691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chatbot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278624" y="23774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from text only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0F1822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36576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trust decisions need the whole picture: does the company, recruiter, email, offer and payment actually belong together?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phone becomes an investigation device.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45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945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Posters, QR codes, business cards, websites on screens, payment requests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645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1945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letters, PDFs, email / WhatsApp / LinkedIn screenshots, brochures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46304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1645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1945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this internship genuine?”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“Show me the negative evidence.”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3749040"/>
            <a:ext cx="0" cy="32004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371600" y="4114800"/>
            <a:ext cx="6400800" cy="548640"/>
          </a:xfrm>
          <a:prstGeom prst="roundRect">
            <a:avLst>
              <a:gd name="adj" fmla="val 13333"/>
            </a:avLst>
          </a:prstGeom>
          <a:solidFill>
            <a:srgbClr val="0F1822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371600" y="41148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Evidence-based, relationship-aware, explainable investigation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TRUSTLENS INVESTIGATES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evidence to an explainable report.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4630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Camera / Upload / Voice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938528" y="1965960"/>
            <a:ext cx="192024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148840" y="146304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0F1822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94560" y="14630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Multimodal AI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30168" y="1965960"/>
            <a:ext cx="192024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840480" y="146304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86200" y="14630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Evidence Extraction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21808" y="1965960"/>
            <a:ext cx="192024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532120" y="146304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7840" y="14630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Entity Resolution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013448" y="1965960"/>
            <a:ext cx="192024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223760" y="146304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69480" y="14630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Verification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1885950" cy="1005840"/>
          </a:xfrm>
          <a:prstGeom prst="roundRect">
            <a:avLst>
              <a:gd name="adj" fmla="val 7273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2920" y="3017520"/>
            <a:ext cx="17945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Relationship Analysis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361438" y="3520440"/>
            <a:ext cx="192024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571750" y="3017520"/>
            <a:ext cx="1885950" cy="1005840"/>
          </a:xfrm>
          <a:prstGeom prst="roundRect">
            <a:avLst>
              <a:gd name="adj" fmla="val 7273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617470" y="3017520"/>
            <a:ext cx="17945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Risk Signals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75988" y="3520440"/>
            <a:ext cx="192024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686300" y="3017520"/>
            <a:ext cx="1885950" cy="1005840"/>
          </a:xfrm>
          <a:prstGeom prst="roundRect">
            <a:avLst>
              <a:gd name="adj" fmla="val 7273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32020" y="3017520"/>
            <a:ext cx="17945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Evidence Graph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590538" y="3520440"/>
            <a:ext cx="192024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800850" y="3017520"/>
            <a:ext cx="1885950" cy="1005840"/>
          </a:xfrm>
          <a:prstGeom prst="roundRect">
            <a:avLst>
              <a:gd name="adj" fmla="val 7273"/>
            </a:avLst>
          </a:prstGeom>
          <a:solidFill>
            <a:srgbClr val="0F1822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46570" y="3017520"/>
            <a:ext cx="17945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Explainable Trust Report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produces evidence the user can inspect, not just a score.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INVESTIGATION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suspicious internship poster.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17920" y="365760"/>
            <a:ext cx="2468880" cy="256032"/>
          </a:xfrm>
          <a:prstGeom prst="roundRect">
            <a:avLst>
              <a:gd name="adj" fmla="val 28571"/>
            </a:avLst>
          </a:prstGeom>
          <a:solidFill>
            <a:srgbClr val="070B10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0" y="3657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DEMO SCENARIO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468880" cy="3200400"/>
          </a:xfrm>
          <a:prstGeom prst="roundRect">
            <a:avLst>
              <a:gd name="adj" fmla="val 2963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08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•  Poster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74520"/>
            <a:ext cx="2148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Company: ABC Technologies Pvt Ltd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Data Science Intern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Recruiter: Rahul Sharma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rahul@abc-careers.example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Website: abc-technologies.example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Fee: ₹2,500 registration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17520" y="2971800"/>
            <a:ext cx="320040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83280" y="1371600"/>
            <a:ext cx="2834640" cy="3200400"/>
          </a:xfrm>
          <a:prstGeom prst="roundRect">
            <a:avLst>
              <a:gd name="adj" fmla="val 2581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15087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1920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886200" y="1920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identity found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4231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88620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mismatch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2926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886200" y="2926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domain mismatch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3429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3886200" y="3429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Upfront payment requested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566160" y="3931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886200" y="3931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relationship not verified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2971800"/>
            <a:ext cx="320040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629400" y="1371600"/>
            <a:ext cx="2057400" cy="3200400"/>
          </a:xfrm>
          <a:prstGeom prst="roundRect">
            <a:avLst>
              <a:gd name="adj" fmla="val 3556"/>
            </a:avLst>
          </a:prstGeom>
          <a:solidFill>
            <a:srgbClr val="2A1215"/>
          </a:solidFill>
          <a:ln w="9525">
            <a:solidFill>
              <a:srgbClr val="F8717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20840" y="18288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6766560" y="256032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C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inconsistencies require caution and further verification.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39319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proven-scam verdict.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TRUSTLENS DIFFERENT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Relationships, not isolated signals.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926080" cy="1371600"/>
          </a:xfrm>
          <a:prstGeom prst="roundRect">
            <a:avLst>
              <a:gd name="adj" fmla="val 5333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→ Safe / Unsafe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2926080" cy="1554480"/>
          </a:xfrm>
          <a:prstGeom prst="roundRect">
            <a:avLst>
              <a:gd name="adj" fmla="val 4706"/>
            </a:avLst>
          </a:prstGeom>
          <a:solidFill>
            <a:srgbClr val="0F1822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108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TRUSTLENS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4290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+ Evidence-based + Relationship-aware + Explainable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1554480"/>
            <a:ext cx="1188720" cy="1463040"/>
          </a:xfrm>
          <a:prstGeom prst="line">
            <a:avLst/>
          </a:prstGeom>
          <a:noFill/>
          <a:ln w="15875">
            <a:solidFill>
              <a:srgbClr val="34D3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6035040" y="1554480"/>
            <a:ext cx="1463040" cy="1463040"/>
          </a:xfrm>
          <a:prstGeom prst="line">
            <a:avLst/>
          </a:prstGeom>
          <a:noFill/>
          <a:ln w="15875">
            <a:solidFill>
              <a:srgbClr val="F8717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3017520"/>
            <a:ext cx="1920240" cy="0"/>
          </a:xfrm>
          <a:prstGeom prst="line">
            <a:avLst/>
          </a:prstGeom>
          <a:noFill/>
          <a:ln w="15875">
            <a:solidFill>
              <a:srgbClr val="F8717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3017520"/>
            <a:ext cx="1463040" cy="1463040"/>
          </a:xfrm>
          <a:prstGeom prst="line">
            <a:avLst/>
          </a:prstGeom>
          <a:noFill/>
          <a:ln w="15875">
            <a:solidFill>
              <a:srgbClr val="FBBF24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 flipV="1">
            <a:off x="4846320" y="3017520"/>
            <a:ext cx="1188720" cy="1463040"/>
          </a:xfrm>
          <a:prstGeom prst="line">
            <a:avLst/>
          </a:prstGeom>
          <a:noFill/>
          <a:ln w="15875">
            <a:solidFill>
              <a:srgbClr val="FBBF24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440680" y="274320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0B2A33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40680" y="27432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89120" y="132588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0F1822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89120" y="1325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40880" y="132588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0F1822"/>
          </a:solidFill>
          <a:ln w="9525">
            <a:solidFill>
              <a:srgbClr val="F8717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40880" y="1325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98080" y="278892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0F1822"/>
          </a:solidFill>
          <a:ln w="9525">
            <a:solidFill>
              <a:srgbClr val="F8717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98080" y="2788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040880" y="425196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0F1822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40880" y="4251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89120" y="425196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0F1822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389120" y="4251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0233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match   red mismatch   amber unverified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TECHNICAL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“send everything to an LLM”.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0" y="365760"/>
            <a:ext cx="2103120" cy="256032"/>
          </a:xfrm>
          <a:prstGeom prst="roundRect">
            <a:avLst>
              <a:gd name="adj" fmla="val 28571"/>
            </a:avLst>
          </a:prstGeom>
          <a:solidFill>
            <a:srgbClr val="070B10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0" y="3657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FOR GRAND FINALE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81100" cy="822960"/>
          </a:xfrm>
          <a:prstGeom prst="roundRect">
            <a:avLst>
              <a:gd name="adj" fmla="val 8889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371600"/>
            <a:ext cx="10896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56588" y="1783080"/>
            <a:ext cx="192024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866900" y="1371600"/>
            <a:ext cx="1181100" cy="822960"/>
          </a:xfrm>
          <a:prstGeom prst="roundRect">
            <a:avLst>
              <a:gd name="adj" fmla="val 8889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12620" y="1371600"/>
            <a:ext cx="10896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/ Kotlin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66288" y="1783080"/>
            <a:ext cx="192024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276600" y="1371600"/>
            <a:ext cx="1181100" cy="822960"/>
          </a:xfrm>
          <a:prstGeom prst="roundRect">
            <a:avLst>
              <a:gd name="adj" fmla="val 8889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22320" y="1371600"/>
            <a:ext cx="10896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 REST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75988" y="1783080"/>
            <a:ext cx="192024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686300" y="1371600"/>
            <a:ext cx="1181100" cy="822960"/>
          </a:xfrm>
          <a:prstGeom prst="roundRect">
            <a:avLst>
              <a:gd name="adj" fmla="val 8889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32020" y="1371600"/>
            <a:ext cx="10896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85688" y="1783080"/>
            <a:ext cx="192024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096000" y="1371600"/>
            <a:ext cx="1181100" cy="822960"/>
          </a:xfrm>
          <a:prstGeom prst="roundRect">
            <a:avLst>
              <a:gd name="adj" fmla="val 8889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41720" y="1371600"/>
            <a:ext cx="10896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+ Entity Resolution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95388" y="1783080"/>
            <a:ext cx="192024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505700" y="1371600"/>
            <a:ext cx="1181100" cy="822960"/>
          </a:xfrm>
          <a:prstGeom prst="roundRect">
            <a:avLst>
              <a:gd name="adj" fmla="val 8889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51420" y="1371600"/>
            <a:ext cx="10896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Sources / APIs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65176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0F1822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2920" y="26517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Engine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938528" y="3063240"/>
            <a:ext cx="192024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148840" y="265176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194560" y="26517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30168" y="3063240"/>
            <a:ext cx="192024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840480" y="265176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886200" y="26517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Graph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321808" y="3063240"/>
            <a:ext cx="192024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532120" y="265176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577840" y="26517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013448" y="3063240"/>
            <a:ext cx="192024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223760" y="265176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269480" y="26517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Report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3840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AI STACK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4114800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57200" y="41148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multimodal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828800" y="4114800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828800" y="41148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/ Vision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00400" y="4114800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200400" y="41148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0" y="4114800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572000" y="41148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943600" y="4114800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943600" y="41148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315200" y="4114800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315200" y="41148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APIs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457200" y="46177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/ open-source models: evaluation direction only.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PHONE-FIRST + IQOO INTEGRATION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phone is the primary device.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2011680" cy="356616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25400">
            <a:solidFill>
              <a:srgbClr val="3A55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71600"/>
            <a:ext cx="1828800" cy="3383280"/>
          </a:xfrm>
          <a:prstGeom prst="roundRect">
            <a:avLst>
              <a:gd name="adj" fmla="val 4000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64592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070B10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64592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320040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070B10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32004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is this suspicious?”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22960" y="384048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2A1215"/>
          </a:solidFill>
          <a:ln w="9525">
            <a:solidFill>
              <a:srgbClr val="F8717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8404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108960" y="137160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08960" y="1371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137160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26280" y="137160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26280" y="1371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806440" y="137160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0" y="137160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0" y="1371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223760" y="137160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60920" y="137160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60920" y="13716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10896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TrustLens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3108960" y="2834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KIT WORKFLOW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98080" y="2807208"/>
            <a:ext cx="1188720" cy="256032"/>
          </a:xfrm>
          <a:prstGeom prst="roundRect">
            <a:avLst>
              <a:gd name="adj" fmla="val 28571"/>
            </a:avLst>
          </a:prstGeom>
          <a:solidFill>
            <a:srgbClr val="070B10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98080" y="28072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108960" y="320040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108960" y="3200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663440" y="320040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029200" y="320040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0F1822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029200" y="3200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Kit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0" y="320040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949440" y="320040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949440" y="3200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3108960" y="4114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on phone → process in dev environment → result back on phone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DEMO → GRAND FINALE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today. Complete system next.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291840" cy="3291840"/>
          </a:xfrm>
          <a:prstGeom prst="roundRect">
            <a:avLst>
              <a:gd name="adj" fmla="val 2222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2103120" cy="256032"/>
          </a:xfrm>
          <a:prstGeom prst="roundRect">
            <a:avLst>
              <a:gd name="adj" fmla="val 28571"/>
            </a:avLst>
          </a:prstGeom>
          <a:solidFill>
            <a:srgbClr val="070B10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087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• PROTOTYPE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6596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concept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prototype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workflow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scenarios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/ result demonstration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relationship concept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0" y="3017520"/>
            <a:ext cx="320040" cy="0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206240" y="1371600"/>
            <a:ext cx="4480560" cy="3291840"/>
          </a:xfrm>
          <a:prstGeom prst="roundRect">
            <a:avLst>
              <a:gd name="adj" fmla="val 2222"/>
            </a:avLst>
          </a:prstGeom>
          <a:solidFill>
            <a:srgbClr val="0F1822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508760"/>
            <a:ext cx="2651760" cy="256032"/>
          </a:xfrm>
          <a:prstGeom prst="roundRect">
            <a:avLst>
              <a:gd name="adj" fmla="val 28571"/>
            </a:avLst>
          </a:prstGeom>
          <a:solidFill>
            <a:srgbClr val="070B10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89120" y="15087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FINALE • PLANNED BUILD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965960"/>
            <a:ext cx="2011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/ Kotlin app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camera input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/ image processing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multimodal AI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Voice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resolution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1965960"/>
            <a:ext cx="2011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APIs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engine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risk analysis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graph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report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CRITERIA ALIGNMENT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around how we are judged.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Product Quality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investigation workflow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32588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417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&amp; Impact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Relationship-based, not single-signal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32588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1417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Phone Use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+ QR + Voice, mobile-first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1546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Depth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114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AI, entity resolution, verification, evidence graph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306324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74720" y="31546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3600" dirty="0"/>
          </a:p>
        </p:txBody>
      </p:sp>
      <p:sp>
        <p:nvSpPr>
          <p:cNvPr id="22" name="Text 20"/>
          <p:cNvSpPr txBox="1"/>
          <p:nvPr/>
        </p:nvSpPr>
        <p:spPr>
          <a:xfrm>
            <a:off x="347472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Kit Usage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474720" y="4114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↔ laptop workflow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306324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09360" y="31546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3600" dirty="0"/>
          </a:p>
        </p:txBody>
      </p:sp>
      <p:sp>
        <p:nvSpPr>
          <p:cNvPr id="26" name="Text 24"/>
          <p:cNvSpPr txBox="1"/>
          <p:nvPr/>
        </p:nvSpPr>
        <p:spPr>
          <a:xfrm>
            <a:off x="6309360" y="3840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Presentation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4114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internship-scam story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+ RESPONSIBLE BY DESIGN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benefits, and how we stay careful.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08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202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fake internships and offers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3716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97480" y="1508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seekers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9202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recruiters and offers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508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participants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19202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organizers and links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13716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03720" y="1508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users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19202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sites, QR codes, payments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063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minimization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60320" y="306324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560320" y="3063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API communication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306324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63440" y="3063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hardcoded secrets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766560" y="306324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66560" y="3063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protection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61188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3611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file processing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560320" y="361188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560320" y="3611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sensitive data in logs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361188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663440" y="3611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control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766560" y="361188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0F1822"/>
          </a:solidFill>
          <a:ln w="9525">
            <a:solidFill>
              <a:srgbClr val="22384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766560" y="3611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≠ Fraud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TrustLens provides investigation support, not a guaranteed fraud verdict.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TRUSTLENS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before you trust.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Camera.  Voice.  AI.  Evidence.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trust the name. Investigate the evidence.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TrustLens - iQOO Hackathon 2026 Grand Finale</dc:title>
  <dc:subject>PptxGenJS Presentation</dc:subject>
  <dc:creator>PptxGenJS</dc:creator>
  <cp:lastModifiedBy>PptxGenJS</cp:lastModifiedBy>
  <cp:revision>1</cp:revision>
  <dcterms:created xsi:type="dcterms:W3CDTF">2026-10-01T16:34:56Z</dcterms:created>
  <dcterms:modified xsi:type="dcterms:W3CDTF">2026-10-01T16:34:56Z</dcterms:modified>
</cp:coreProperties>
</file>